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みなさん、こんにちは。今日は Raspberry Pi Pico という小さなコンピュータを使って、信号機を光らせたり、人や物との距離をセンサーで測ったりします。プログラムで現実の物が動くと、とても楽しいですよ。最後まで一緒にがんばりましょう。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今日のゴールは3つです。1つ目は、Pico で LED を光らせたりセンサーの値を読んだりすること。2つ目は、while・if・for・関数を使って、プログラムの動きの流れを作れるようになること。3つ目は、抵抗やプルアップといった電気の基本が、なぜ必要なのかを説明できるようになる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Pico はマイコン、つまり小さなコンピュータです。GPIO は Pico が電気を出したり読み取ったりできる出入口です。3.3V が HIGH で 1、0V が LOW で 0 です。ここで一番大事なのは、GP番号と物理ピン番号は別物だということ。物理3番は GND で、GP3 ではありません。つまずきやすい点:配線ミスの多くはこの取り違えです。配布したピン配置図を必ず手元に置いてください。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Thonny を開いたら、まず右下のインタプリタを MicroPython (Raspberry Pi Pico) にしてください。緑の三角が実行、赤い四角が停止です。print の結果は下の Shell に出てきます。つまずきやすい点:Pico が認識されないときは、USB ケーブルが充電専用でないか確認しましょう。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まずは3行だけのプログラムで、Pico 本体の LED をつけてみましょう。Pin("LED", Pin.OUT) で本体の LED を出力にして、value(1) で点灯です。つまずきやすい点:右下のインタプリタが MicroPython (Raspberry Pi Pico) になっていないと動きません。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次は、つけて1秒待って消します。time.sleep(1) が1秒待つ命令です。プログラムは上から順番に実行されるので、点灯、待つ、消灯の順に動きます。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最後は while True で、つけて消してをずっとくり返します。これで点滅になります。つまずきやすい点:while の中の行は字下げ(スペース4つ)をそろえましょう。止めるときは停止ボタンです。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プログラムは書いた順番に、上から1行ずつ実行されます。これを順次といいます。当たり前のようですが、順番を入れかえると動きが変わる、ということを意識しておきましょう。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マイコンは電源が入っている間、ずっと動き続けるのが基本です。そのために while True を使います。True は「ずっと正しい」という意味なので、ループは終わりません。止めるときは Thonny の停止ボタンを押します。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は「もし〜なら」という意味です。条件によって処理を分けたいときに使います。このあと、ボタンが押されていたら、距離が10cm未満なら、という形で何度も出てきます。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は、決まった回数や決まったものを順番に処理するときに使います。信号機では、赤・黄・緑の LED を1個ずつ取り出して点灯させるのに使います。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よく使う処理には、def で名前を付けておけます。これが関数です。今日は全部の LED を消す all_off や、距離を測る read_cm が出てきます。return を使うと、関数の結果を呼び出した側に返せます。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sleep は待つ命令です。sleep(1) で1秒、sleep_ms は100分の1ではなく1000分の1秒単位、sleep_us は100万分の1秒単位です。そして大事なのが、待っている間は Pico は他のことが何もできない、ということ。これがあとでボタンを使うときに問題になります。覚えておいてください。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LED は電流が流れすぎると壊れてしまいます。最悪の場合、Pico のほうも傷みます。そこで、電流を抑えるために電流制限抵抗を LED と直列、つまり一列につなぎます。LED を単体で光らせるときは、220Ω くらいの抵抗が必要だと覚えてください。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オームの法則は、電圧イコール電流かける抵抗です。LED は光るときに約2V を使います。これを順方向電圧といいます。Pico の3.3V から LED の2V を引いた1.3V が抵抗にかかります。それを220Ωで割ると約0.006A、つまり6mA です。LED の目安の20mA より十分小さいので安全です。抵抗がないと、電流を止めるものがなくなってしまいます。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今日使う信号機モジュールには、基板に抵抗が組み込まれています。なので GPIO に直接つないで大丈夫です。でも、部品を単体で使うときは220Ωを入れる、ということは必ず覚えておいてください。つまずきやすい点:GND は物理3番です。GP3 と取り違えないように、ピン配置図で確認しましょう。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前半はピンの設定と、全部消す関数、そして配線チェックです。コメントを1行ずつ読んでみてください。for で赤・黄・緑を1個ずつ点けて、Shell に出た色と光った色が合っているか確認します。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後半は while True で、緑5秒、黄2秒、赤5秒をずっと繰り返します。つまずきやすい点:色が合わないときは、GP番号と物理ピン番号の取り違えを疑いましょう。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後半は while True で、緑5秒、黄2秒、赤5秒をずっと繰り返します。つまずきやすい点:色が合わないときは、GP番号と物理ピン番号の取り違えを疑いましょう。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Pin(2, Pin.OUT) で GP2 を出力にしています。all_off は for を使って3つの LED を消す関数です。最初の for は配線チェック、while True が信号のサイクルです。では実習です。秒数を変えて、自分だけの信号機にしてみましょう。つまずきやすい点:time.sleep の数字は秒、sleep_ms はミリ秒なので単位に注意。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タクトスイッチは、押している間だけ電気が通るスイッチです。片側を GP5、物理7番に、もう片側を GND、物理8番につなぎます。つまずきやすい点:タクトスイッチは足が4本あります。対角線の足を使うと確実です。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ボタンを押していないとき、GP5 はどこにもつながっていません。これをフローティング、浮いている状態といいます。このとき値は HIGH か LOW か決まらず、指で触っただけで変わることもあります。線がアンテナのように、まわりの電気のノイズを拾ってしまうイメージです。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そこで、入力ピンを抵抗を通して3.3V に引っ張り上げておきます。これがプルアップです。押していないときは3.3V につながって1、押すと GND につながって0になります。押すと0、というのが感覚と逆なので注意です。Pico には内部にプルアップ抵抗があるので、Pin.PULL_UP と書くだけで使えます。抵抗があるので、押しても3.3V と GND がショートしません。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スイッチは押した瞬間に、中の金属の接点が細かく ON と OFF を繰り返すことがあります。これをチャタリングといいます。1回押しただけなのに、何回も押されたように見えてしまいます。対策として、押されたら20ミリ秒待って、もう一度確認します。それでも押されていたら本当に押したと判断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ボタンのピン設定に注目してください。Pin.IN で入力、Pin.PULL_UP で内部プルアップを使います。押すと0になります。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メインの繰り返しです。ボタンが0なら20ミリ秒待って、もう一度確認しています。これがチャタリング対策です。つまずきやすい点:プルアップなので、== 0 で押された判定になります。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最後に、ボタンが離されるまで待っています。そして10ミリ秒ごとにボタンを見に行きます。これがポーリングです。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ポーリングとは、何度も見に行って確認する方式のことです。if の中に if が入っているのがチャタリング対策、while button.value() == 0 は離すまで待つ部分です。では実験です。黄や赤の最中にボタンを押してみてください。まったく反応しませんね。sleep している間はボタンを見ていないからです。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割り込みは、何かが起きたら知らせてもらう方式です。ポーリングは郵便受けを何度も見に行くこと、割り込みはインターホンが鳴ったら出ること、とたとえられます。IRQ_FALLING は、HIGH から LOW に落ちた瞬間、つまり押した瞬間です。割り込みで呼ばれる関数をハンドラといい、フラグを立てるだけの短い処理にするのがコツです。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pressed というフラグ、目印の変数を用意します。on_press がハンドラで、目印を立てるだけです。button.irq で、押した瞬間に on_press を呼んでね、と登録しています。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メインの繰り返しでは、ボタンを直接見に行かず、目印を確認しています。目印が立っていたら信号を変えます。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最後の pressed = False で、黄や赤の間に押されたぶんを無視しています。つまずきやすい点:global を書き忘れると、ボタンを押しても何も起きません。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最後の pressed = False で、黄や赤の間に押されたぶんを無視しています。つまずきやすい点:global を書き忘れると、ボタンを押しても何も起きません。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global pressed は、関数の外の変数を書き換えるための宣言です。ポーリングと割り込みをくらべると、割り込みは sleep 中に押されてもフラグとして残る、というのが大きな違いです。発展として、最後の pressed = False を消すと、押した分が予約になって次のサイクルにつながります。試してみてください。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人感センサーは、人の体から出る赤外線、つまり熱の変化を感じ取ります。検知すると OUT が HIGH、いなくなると LOW になります。電源を入れてから数十秒は不安定なので、ウォームアップが必要です。また検知後しばらくは HIGH が続きます。これをホールド時間といいます。つまずきやすい点:VCC・OUT・GND の並びは製品によって違うことがあるので、基板の印字を必ず確認してください。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GP15 を入力にして、PULL_DOWN を使います。本体の LED は「LED」という名前で指定します。最初に30秒のウォームアップをします。つまずきやすい点:30秒間は何も表示されませんが、壊れていないので待ちましょう。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メインでは、前回の値 prev と今の値 now をくらべて、変わったときだけ表示します。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PULL_DOWN はプルアップの逆で、何もないときに LOW に固定します。prev と now をくらべて、変化したときだけ表示する、という考え方はいろいろなセンサーで使えます。実習として、検知したら信号機を赤にしてみましょう。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超音波センサーは、人には聞こえない40kHz の高い音を出して、物に当たって返ってくるまでの時間を測ります。コウモリやイルカと同じ考え方です。Trig は音を出す合図、Echo は音が返ってくるまでの時間だけ HIGH 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音速は約340m/秒です。正確には331.5足す0.6かける気温で、気温によって変わります。単位をそろえると、340m/秒は34000cm/秒、さらに100万で割って0.034cm/μs です。距離は速さかける時間ですが、音は行って帰ってくるので2で割ります。0.034÷2 は0.017、これは58.8で割るのと同じです。だからコードでは t / 58 と書いています。たとえば580μs なら、580÷58で10cm 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HC-SR04 は5V で動くセンサーで、Echo からも5V の信号が出てきます。でも Pico の入力は3.3V までです。5V をそのまま入れると壊れるおそれがあります。そこで、電圧を下げる分圧回路を使います。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抵抗を2つ直列につなぐと、電圧は抵抗の大きさに比例して分かれます。公式は、出力電圧イコール入力電圧かける R2 割る R1足す R2 です。1kΩ と2kΩ なら、5V かける3分の2で約3.3V になります。水の流れを2つの坂に分けると、途中の高さは坂の長さで決まる、というイメージです。Trig は Pico から3.3V を出すので直結で OK。3.3V 対応品の HC-SR04P なら分圧は不要です。つまずきやすい点:1kΩ と2kΩ の位置を逆にしないこと。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配線をまとめます。VCC は VBUS の40番、GND は38番、Trig は GP10 の14番、Echo は分圧回路を通して GP11 の15番です。つまずきやすい点:VCC は3V3ではなく VBUS、5V につなぎます。Echo は必ず分圧回路を通しましょう。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距離を測る処理を read_cm という関数にまとめています。Trig を10μs だけ1にして、超音波を出させます。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time_pulse_us で Echo が HIGH の時間を測り、t / 58 で cm に変えて返します。メインでは0.2秒ごとに距離を表示します。つまずきやすい点:測定不可ばかり出るときは、配線と分圧回路を確認しましょう。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time_pulse_us で Echo が HIGH の時間を測り、t / 58 で cm に変えて返します。メインでは0.2秒ごとに距離を表示します。つまずきやすい点:測定不可ばかり出るときは、配線と分圧回路を確認しましょう。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Trig を10μs だけ HIGH にするのが、音を出してという合図です。time_pulse_us は Echo が HIGH の時間を測り、30ms 以上はあきらめます。測れなかったときは None、値なしを返します。return t / 58 はさっき計算した式です。測定範囲は2cm から400cm くらいで、近すぎる物、斜めの面、やわらかい物は苦手です。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今日学んだことをふり返りましょう。制御構造は順次・while・if・for・関数。電気では、LED には電流制限抵抗、プルアップとプルダウン、分圧。センサーは、人感センサーが赤外線、超音波センサーが音速かける時間割る2。ボタンはポーリングと割り込みでした。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最後にチャレンジ課題です。今日使った部品とプログラムを組み合わせてみましょう。ピン設定や関数は、それぞれのコードからコピーしてきて OK です。つまずきやすい点:部品が増えると GND が足りなくなります。ブレッドボードで GND をまとめましょう。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Raspberry Pi Pico でセンサーを動かそう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8328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〜信号機・人感センサー・超音波センサー〜</a:t>
            </a:r>
          </a:p>
        </p:txBody>
      </p:sp>
      <p:sp>
        <p:nvSpPr>
          <p:cNvPr id="5" name="Oval 4"/>
          <p:cNvSpPr/>
          <p:nvPr/>
        </p:nvSpPr>
        <p:spPr>
          <a:xfrm>
            <a:off x="5184648" y="4937760"/>
            <a:ext cx="457200" cy="45720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70448" y="4937760"/>
            <a:ext cx="457200" cy="457200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56248" y="4937760"/>
            <a:ext cx="457200" cy="457200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今日のゴール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第1部 はじめに  |  2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08760"/>
            <a:ext cx="914400" cy="914400"/>
          </a:xfrm>
          <a:prstGeom prst="ellipse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508760"/>
            <a:ext cx="990569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Pico で </a:t>
            </a:r>
            <a:r>
              <a:rPr sz="26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LED を光らせる</a:t>
            </a:r>
            <a:r>
              <a:rPr sz="26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/</a:t>
            </a:r>
            <a:r>
              <a:rPr sz="26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センサーの値を読む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971800"/>
            <a:ext cx="914400" cy="914400"/>
          </a:xfrm>
          <a:prstGeom prst="ellipse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971800"/>
            <a:ext cx="990569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while</a:t>
            </a:r>
            <a:r>
              <a:rPr sz="26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/ </a:t>
            </a:r>
            <a:r>
              <a:rPr sz="26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if</a:t>
            </a:r>
            <a:r>
              <a:rPr sz="26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/ </a:t>
            </a:r>
            <a:r>
              <a:rPr sz="26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for</a:t>
            </a:r>
            <a:r>
              <a:rPr sz="26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/ 関数 を使って「動きの流れ」を作れる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434840"/>
            <a:ext cx="914400" cy="914400"/>
          </a:xfrm>
          <a:prstGeom prst="ellipse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434840"/>
            <a:ext cx="990569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電気の基本(</a:t>
            </a:r>
            <a:r>
              <a:rPr sz="26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抵抗・電圧・プルアップ</a:t>
            </a:r>
            <a:r>
              <a:rPr sz="26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)がなぜ必要か説明できる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Raspberry Pi Pico と GPIO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第1部 はじめに  |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マイコン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= 小さなコンピュータ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GPIO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=「Pico が電気を ON/OFF したり、読み取ったりできる出入口」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　– 出力(OUT):電気を出す 例)LED を光らせる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　– 入力(IN):電気を読み取る 例)ボタンを調べる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3.3V が HIGH(1)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、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0V が LOW(0)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4160520"/>
          <a:ext cx="1109441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5425"/>
                <a:gridCol w="4314494"/>
                <a:gridCol w="4314494"/>
              </a:tblGrid>
              <a:tr h="4572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番号の種類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意味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例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GP番号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プログラムで使う番号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C62828"/>
                          </a:solidFill>
                          <a:latin typeface="MS Gothic"/>
                          <a:ea typeface="MS Gothic"/>
                          <a:cs typeface="MS Gothic"/>
                        </a:rPr>
                        <a:t>Pin(3, Pin.OUT)</a:t>
                      </a:r>
                      <a:r>
                        <a:rPr sz="20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 → GP3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物理ピン番号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基板上の位置(1〜40)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GP3 は物理5番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669280"/>
            <a:ext cx="11094415" cy="594360"/>
          </a:xfrm>
          <a:prstGeom prst="roundRect">
            <a:avLst/>
          </a:prstGeom>
          <a:solidFill>
            <a:srgbClr val="FFF4E0"/>
          </a:solidFill>
          <a:ln w="19050">
            <a:solidFill>
              <a:srgbClr val="D9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2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⚠ 物理3番は GND であって GP3 ではない! 配布したピン配置図で、GP番号と物理ピン番号の両方を確かめよう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Thonny の準備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第1部 はじめに  |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・Pico を USB でパソコンにつなぐ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・右下のインタプリタを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「MicroPython (Raspberry Pi Pico)」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にする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・Shell に 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が出ればつながっている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383280"/>
          <a:ext cx="1109441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2672"/>
                <a:gridCol w="6471742"/>
              </a:tblGrid>
              <a:tr h="54864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ボタン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意味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▶ 実行(緑の三角)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プログラムを Pico で動かす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■ 停止(赤い四角)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動いているプログラムを止める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Shell(画面下)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C62828"/>
                          </a:solidFill>
                          <a:latin typeface="MS Gothic"/>
                          <a:ea typeface="MS Gothic"/>
                          <a:cs typeface="MS Gothic"/>
                        </a:rPr>
                        <a:t>print</a:t>
                      </a:r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 の結果が表示される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760720"/>
            <a:ext cx="11094415" cy="548640"/>
          </a:xfrm>
          <a:prstGeom prst="roundRect">
            <a:avLst/>
          </a:prstGeom>
          <a:solidFill>
            <a:srgbClr val="FFF4E0"/>
          </a:solidFill>
          <a:ln w="19050">
            <a:solidFill>
              <a:srgbClr val="D9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2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⚠ Pico が見つからない → USB ケーブルが「充電専用」でないか確認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まずは LED をつけてみよう ①つける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第1部 はじめに  | 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94415" cy="1092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4415" cy="10922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from machine import Pin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Pin:Pico のピンを操作するための道具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led = Pin("LED", Pin.OUT)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本体のLEDを「出力」にする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led.value(1)      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1 = 点灯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55240"/>
            <a:ext cx="11094415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Pin("LED", Pin.OUT)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:本体の LED を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出力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にする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led.value(1)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: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1 で点灯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・やってみよう: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1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を 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0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にすると?(→ 消える)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まずは LED をつけてみよう ②つけて消す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第1部 はじめに  | 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94415" cy="17399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4415" cy="17399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from machine import Pin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Pin:Pico のピンを操作するための道具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import time       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time:待ち時間を作るための道具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led = Pin("LED", Pin.OUT)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本体のLEDを「出力」にする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led.value(1)      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点灯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time.sleep(1)     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1秒待つ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led.value(0)      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0 = 消灯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2940"/>
            <a:ext cx="11094415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time.sleep(1)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: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1秒待つ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・上から順に:点灯 → 待つ → 消灯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・やってみよう: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1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を 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3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にすると?(→ 3秒光る)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まずは LED をつけてみよう ③点滅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第1部 はじめに  | 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94415" cy="2387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4415" cy="23876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from machine import Pin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Pin:Pico のピンを操作するための道具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import time       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time:待ち時間を作るための道具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led = Pin("LED", Pin.OUT)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本体のLEDを「出力」にする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while True:       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ずっとくり返す(止めるときは停止ボタン)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led.value(1)  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点灯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time.sleep(0.5)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0.5秒待つ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led.value(0)  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消灯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time.sleep(0.5)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0.5秒待つ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02408"/>
            <a:ext cx="1069340" cy="228600"/>
          </a:xfrm>
          <a:prstGeom prst="roundRect">
            <a:avLst/>
          </a:prstGeom>
          <a:noFill/>
          <a:ln w="2540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色付き枠: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E24AA"/>
                </a:solidFill>
                <a:latin typeface="Meiryo"/>
                <a:ea typeface="Meiryo"/>
                <a:cs typeface="Meiryo"/>
              </a:rPr>
              <a:t>while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50640"/>
            <a:ext cx="11094415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while True: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の中(字下げした4行)が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ずっとくり返される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・止めるときは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停止ボタン(■)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・やってみよう: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0.5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を 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0.1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にすると?(→ 速く点滅)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プログラムは上から順に動く(順次)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第2部 制御構造  | 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6400800" cy="8763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400800" cy="8763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print("1行目")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print("2行目")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1行目のあとに実行される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print("3行目")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2行目のあとに実行される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417320"/>
            <a:ext cx="2743200" cy="731520"/>
          </a:xfrm>
          <a:prstGeom prst="roundRect">
            <a:avLst/>
          </a:prstGeom>
          <a:solidFill>
            <a:srgbClr val="E8F1FB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1行目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784080" y="2148840"/>
            <a:ext cx="0" cy="365760"/>
          </a:xfrm>
          <a:prstGeom prst="line">
            <a:avLst/>
          </a:prstGeom>
          <a:ln w="381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412480" y="2514600"/>
            <a:ext cx="2743200" cy="731520"/>
          </a:xfrm>
          <a:prstGeom prst="roundRect">
            <a:avLst/>
          </a:prstGeom>
          <a:solidFill>
            <a:srgbClr val="E8F1FB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2行目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84080" y="3246120"/>
            <a:ext cx="0" cy="365760"/>
          </a:xfrm>
          <a:prstGeom prst="line">
            <a:avLst/>
          </a:prstGeom>
          <a:ln w="381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412480" y="3611880"/>
            <a:ext cx="2743200" cy="731520"/>
          </a:xfrm>
          <a:prstGeom prst="roundRect">
            <a:avLst/>
          </a:prstGeom>
          <a:solidFill>
            <a:srgbClr val="E8F1FB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3行目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10944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1行ずつ、上から順番に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実行される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・順番を入れかえると、動きも変わる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while True: 無限ループ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第2部 制御構造  |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色付き枠: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E24AA"/>
                </a:solidFill>
                <a:latin typeface="Meiryo"/>
                <a:ea typeface="Meiryo"/>
                <a:cs typeface="Meiryo"/>
              </a:rPr>
              <a:t>while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00" cy="8763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7315200" cy="8763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while True: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True なので終わらない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print("ずっと表示")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time.sleep(1)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1秒待つ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5788"/>
            <a:ext cx="1069340" cy="228600"/>
          </a:xfrm>
          <a:prstGeom prst="roundRect">
            <a:avLst/>
          </a:prstGeom>
          <a:noFill/>
          <a:ln w="2540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11094415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・マイコンは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「ずっと動き続ける」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のが基本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while True: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の中は、終わらずにくり返される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・止めるには Thonny の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停止ボタン(■)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if 条件分岐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第2部 制御構造  |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色付き枠: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53935"/>
                </a:solidFill>
                <a:latin typeface="Meiryo"/>
                <a:ea typeface="Meiryo"/>
                <a:cs typeface="Meiryo"/>
              </a:rPr>
              <a:t>if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00" cy="1092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7315200" cy="10922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if distance &lt; 10: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もし距離が10cm未満なら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print("近い!")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else:     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そうでなければ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print("遠い")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5788"/>
            <a:ext cx="1602740" cy="228600"/>
          </a:xfrm>
          <a:prstGeom prst="roundRect">
            <a:avLst/>
          </a:prstGeom>
          <a:noFill/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037588"/>
            <a:ext cx="535940" cy="228600"/>
          </a:xfrm>
          <a:prstGeom prst="roundRect">
            <a:avLst/>
          </a:prstGeom>
          <a:noFill/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11094415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・「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もし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ボタンが押されていたら」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・「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もし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距離が10cm未満なら」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・条件によって、する処理を分ける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for 繰り返し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第2部 制御構造  |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色付き枠: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88E5"/>
                </a:solidFill>
                <a:latin typeface="Meiryo"/>
                <a:ea typeface="Meiryo"/>
                <a:cs typeface="Meiryo"/>
              </a:rPr>
              <a:t>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9144000" cy="13081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9144000" cy="13081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for i in range(3):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i に 0, 1, 2 が順に入る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print(i)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for p in (red, yellow, green):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LED を1個ずつ取り出す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p.value(1)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5788"/>
            <a:ext cx="1691640" cy="228600"/>
          </a:xfrm>
          <a:prstGeom prst="roundRect">
            <a:avLst/>
          </a:prstGeom>
          <a:noFill/>
          <a:ln w="254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253488"/>
            <a:ext cx="2758440" cy="228600"/>
          </a:xfrm>
          <a:prstGeom prst="roundRect">
            <a:avLst/>
          </a:prstGeom>
          <a:noFill/>
          <a:ln w="254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109441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決まった回数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をくり返す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決まったもの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を順に処理する(LED を1個ずつ点灯)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関数 def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第2部 制御構造  |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色付き枠: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3A047"/>
                </a:solidFill>
                <a:latin typeface="Meiryo"/>
                <a:ea typeface="Meiryo"/>
                <a:cs typeface="Meiryo"/>
              </a:rPr>
              <a:t>def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8229600" cy="1092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8229600" cy="10922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def double(x):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return x * 2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x を2倍した結果を返す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print(double(5))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10 と表示される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5788"/>
            <a:ext cx="1336040" cy="228600"/>
          </a:xfrm>
          <a:prstGeom prst="roundRect">
            <a:avLst/>
          </a:prstGeom>
          <a:noFill/>
          <a:ln w="254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11094415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・よく使う処理に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名前を付ける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　– 例:</a:t>
            </a:r>
            <a:r>
              <a:rPr sz="22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all_off()</a:t>
            </a: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(全部消す)、</a:t>
            </a:r>
            <a:r>
              <a:rPr sz="22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read_cm()</a:t>
            </a: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(距離を測る)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return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で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結果を返す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time.sleep() 待つ命令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第2部 制御構造  |  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441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7"/>
              </a:tblGrid>
              <a:tr h="64008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書き方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待つ時間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C62828"/>
                          </a:solidFill>
                          <a:latin typeface="MS Gothic"/>
                          <a:ea typeface="MS Gothic"/>
                          <a:cs typeface="MS Gothic"/>
                        </a:rPr>
                        <a:t>time.sleep(1)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1秒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C62828"/>
                          </a:solidFill>
                          <a:latin typeface="MS Gothic"/>
                          <a:ea typeface="MS Gothic"/>
                          <a:cs typeface="MS Gothic"/>
                        </a:rPr>
                        <a:t>time.sleep_ms(100)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100ミリ秒 = 0.1秒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C62828"/>
                          </a:solidFill>
                          <a:latin typeface="MS Gothic"/>
                          <a:ea typeface="MS Gothic"/>
                          <a:cs typeface="MS Gothic"/>
                        </a:rPr>
                        <a:t>time.sleep_us(10)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10マイクロ秒 = 0.00001秒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206240"/>
            <a:ext cx="11094415" cy="1188720"/>
          </a:xfrm>
          <a:prstGeom prst="roundRect">
            <a:avLst/>
          </a:prstGeom>
          <a:solidFill>
            <a:srgbClr val="E8F1FB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★ 待っている間は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他のことができない!</a:t>
            </a:r>
          </a:p>
          <a:p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→ あとのボタン・割り込みで、この問題が出てくるよ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LED は抵抗なしでつないではいけない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第3部 LED と信号機  |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・LED は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電流が流れすぎると壊れる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(最悪の場合 Pico 側も傷む)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・電流を抑えるために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電流制限抵抗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を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直列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(一列)に入れる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・単体 LED を光らせるときは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220Ω 程度の抵抗が必要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572000"/>
            <a:ext cx="2011680" cy="8229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GP2</a:t>
            </a:r>
          </a:p>
          <a:p>
            <a:pPr algn="ctr"/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(3.3V)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709160"/>
            <a:ext cx="18288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抵抗 220Ω</a:t>
            </a:r>
          </a:p>
        </p:txBody>
      </p:sp>
      <p:sp>
        <p:nvSpPr>
          <p:cNvPr id="8" name="Oval 7"/>
          <p:cNvSpPr/>
          <p:nvPr/>
        </p:nvSpPr>
        <p:spPr>
          <a:xfrm>
            <a:off x="6766560" y="4572000"/>
            <a:ext cx="1280160" cy="822960"/>
          </a:xfrm>
          <a:prstGeom prst="ellipse">
            <a:avLst/>
          </a:prstGeom>
          <a:solidFill>
            <a:srgbClr val="E53935"/>
          </a:solidFill>
          <a:ln w="1905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4572000"/>
            <a:ext cx="2011680" cy="8229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4983480"/>
            <a:ext cx="914400" cy="0"/>
          </a:xfrm>
          <a:prstGeom prst="line">
            <a:avLst/>
          </a:prstGeom>
          <a:ln w="381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52160" y="4983480"/>
            <a:ext cx="914400" cy="0"/>
          </a:xfrm>
          <a:prstGeom prst="line">
            <a:avLst/>
          </a:prstGeom>
          <a:ln w="381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46720" y="4983480"/>
            <a:ext cx="914400" cy="0"/>
          </a:xfrm>
          <a:prstGeom prst="line">
            <a:avLst/>
          </a:prstGeom>
          <a:ln w="381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抵抗値の計算(オームの法則)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第3部 LED と信号機  |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オームの法則:V = I × R → I = V ÷ R</a:t>
            </a: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 LED は光るとき約 </a:t>
            </a:r>
            <a:r>
              <a:rPr sz="22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2V</a:t>
            </a: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を使う(順方向電圧 Vf・赤LEDの目安)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① 抵抗にかかる電圧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2011680" cy="566928"/>
          </a:xfrm>
          <a:prstGeom prst="roundRect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2423160"/>
            <a:ext cx="3291840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抵抗の電圧 = Pico の電圧 − LED の電圧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99816"/>
            <a:ext cx="2011680" cy="566928"/>
          </a:xfrm>
          <a:prstGeom prst="roundRect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数値を入れる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3099816"/>
            <a:ext cx="3291840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3.3V − 2.0V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76472"/>
            <a:ext cx="2011680" cy="566928"/>
          </a:xfrm>
          <a:prstGeom prst="roundRect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答え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3776472"/>
            <a:ext cx="3291840" cy="566928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1.3V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② 流れる電流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423160"/>
            <a:ext cx="2011680" cy="566928"/>
          </a:xfrm>
          <a:prstGeom prst="roundRect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423160"/>
            <a:ext cx="3291840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I = V ÷ 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099816"/>
            <a:ext cx="2011680" cy="566928"/>
          </a:xfrm>
          <a:prstGeom prst="roundRect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数値を入れる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3099816"/>
            <a:ext cx="3291840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1.3V ÷ 220Ω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76472"/>
            <a:ext cx="2011680" cy="566928"/>
          </a:xfrm>
          <a:prstGeom prst="roundRect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答え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3776472"/>
            <a:ext cx="3291840" cy="566928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≒ 0.006A = 6mA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37760"/>
            <a:ext cx="11094415" cy="1005840"/>
          </a:xfrm>
          <a:prstGeom prst="roundRect">
            <a:avLst/>
          </a:prstGeom>
          <a:solidFill>
            <a:srgbClr val="FFF4E0"/>
          </a:solidFill>
          <a:ln w="19050">
            <a:solidFill>
              <a:srgbClr val="D9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2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⚠ 6mA は安全な範囲(LED は目安 20mA 以下、Pico の GPIO は控えめに)。</a:t>
            </a:r>
          </a:p>
          <a:p>
            <a:r>
              <a:rPr sz="2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抵抗なしだと? → 電流を止めるものがなく、大きな電流が流れてしまう!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今日の信号機モジュールは抵抗入り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第3部 LED と信号機  | 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37744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666666"/>
                </a:solidFill>
                <a:latin typeface="Meiryo"/>
                <a:ea typeface="Meiryo"/>
                <a:cs typeface="Meiryo"/>
              </a:rPr>
              <a:t>Pico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371600"/>
            <a:ext cx="237744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666666"/>
                </a:solidFill>
                <a:latin typeface="Meiryo"/>
                <a:ea typeface="Meiryo"/>
                <a:cs typeface="Meiryo"/>
              </a:rPr>
              <a:t>信号機モジュール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377440" cy="2542032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0" y="1783080"/>
            <a:ext cx="2377440" cy="2542032"/>
          </a:xfrm>
          <a:prstGeom prst="roundRect">
            <a:avLst/>
          </a:prstGeom>
          <a:solidFill>
            <a:srgbClr val="F3F3F3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GP2(物理4)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920240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R(赤)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80" y="2203704.0"/>
            <a:ext cx="1280160" cy="0.0"/>
          </a:xfrm>
          <a:prstGeom prst="line">
            <a:avLst/>
          </a:prstGeom>
          <a:ln w="381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487168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GP3(物理5)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487168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Y(黄)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26080" y="2770632.0"/>
            <a:ext cx="1280160" cy="0.0"/>
          </a:xfrm>
          <a:prstGeom prst="line">
            <a:avLst/>
          </a:prstGeom>
          <a:ln w="381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054096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GP4(物理6)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054096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G(緑)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26080" y="3337560.0"/>
            <a:ext cx="1280160" cy="0.0"/>
          </a:xfrm>
          <a:prstGeom prst="line">
            <a:avLst/>
          </a:prstGeom>
          <a:ln w="3810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3621024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GND(物理3)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621024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26080" y="3904488.0"/>
            <a:ext cx="1280160" cy="0.0"/>
          </a:xfrm>
          <a:prstGeom prst="line">
            <a:avLst/>
          </a:prstGeom>
          <a:ln w="381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49440" y="1417320"/>
            <a:ext cx="47548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・基板に </a:t>
            </a:r>
            <a:r>
              <a:rPr sz="22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抵抗が組み込まれている</a:t>
            </a: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→ GPIO に </a:t>
            </a:r>
            <a:r>
              <a:rPr sz="22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直結 OK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・部品を単体で使うときは </a:t>
            </a:r>
            <a:r>
              <a:rPr sz="22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220Ω を入れる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・GND は </a:t>
            </a:r>
            <a:r>
              <a:rPr sz="22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物理3番</a:t>
            </a: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(GP3 ではない!)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94960"/>
            <a:ext cx="11094415" cy="548640"/>
          </a:xfrm>
          <a:prstGeom prst="roundRect">
            <a:avLst/>
          </a:prstGeom>
          <a:solidFill>
            <a:srgbClr val="E8F1FB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2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★ 配布したピン配置図で、GP番号と物理ピン番号の両方を確かめよう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信号機コード(配線チェック+サイクル)(1/3)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第3部 LED と信号機  | 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色付き枠: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88E5"/>
                </a:solidFill>
                <a:latin typeface="Meiryo"/>
                <a:ea typeface="Meiryo"/>
                <a:cs typeface="Meiryo"/>
              </a:rPr>
              <a:t>for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3A047"/>
                </a:solidFill>
                <a:latin typeface="Meiryo"/>
                <a:ea typeface="Meiryo"/>
                <a:cs typeface="Meiryo"/>
              </a:rPr>
              <a:t>def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1094415" cy="34671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1094415" cy="34671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必要な道具(モジュール)を読み込む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from machine import Pin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Pin:Pico のピンを操作するための道具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import time  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time:待ち時間を作るための道具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ピンの設定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Pin(番号, Pin.OUT) で「このピンは電気を出す(出力)」と決める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red    = Pin(2, Pin.OUT)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GP2 に赤のLED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yellow = Pin(3, Pin.OUT)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GP3 に黄のLED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green  = Pin(4, Pin.OUT)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GP4 に緑のLED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関数:全部のLEDを消す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def all_off():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赤・黄・緑を1つずつ取り出して p に入れ、順番に消す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for p in (red, yellow, green):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p.value(0)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0 = 電気を止める = 消灯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06368"/>
            <a:ext cx="1336040" cy="228600"/>
          </a:xfrm>
          <a:prstGeom prst="roundRect">
            <a:avLst/>
          </a:prstGeom>
          <a:noFill/>
          <a:ln w="254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5680" y="4138168"/>
            <a:ext cx="2758440" cy="228600"/>
          </a:xfrm>
          <a:prstGeom prst="roundRect">
            <a:avLst/>
          </a:prstGeom>
          <a:noFill/>
          <a:ln w="254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→ 次のスライドに続く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信号機コード(配線チェック+サイクル)(2/3)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第3部 LED と信号機  | 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色付き枠: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88E5"/>
                </a:solidFill>
                <a:latin typeface="Meiryo"/>
                <a:ea typeface="Meiryo"/>
                <a:cs typeface="Meiryo"/>
              </a:rPr>
              <a:t>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1094415" cy="19558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94415" cy="19558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配線チェック:1個ずつ点灯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(名前, ピン) の組を順番に取り出して処理する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for name, p in (("赤", red), ("黄", yellow), ("緑", green)):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all_off() 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いったん全部消す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print(name, "点灯")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Shell に今どの色かを表示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p.value(1)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1 = 電気を流す = 点灯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time.sleep(1)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1秒待つ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all_off()     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チェックが終わったら全部消す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63268"/>
            <a:ext cx="5425439" cy="228600"/>
          </a:xfrm>
          <a:prstGeom prst="roundRect">
            <a:avLst/>
          </a:prstGeom>
          <a:noFill/>
          <a:ln w="254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→ 次のスライドに続く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信号機コード(配線チェック+サイクル)(3/3)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第3部 LED と信号機  | 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色付き枠: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E24AA"/>
                </a:solidFill>
                <a:latin typeface="Meiryo"/>
                <a:ea typeface="Meiryo"/>
                <a:cs typeface="Meiryo"/>
              </a:rPr>
              <a:t>while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1094415" cy="30353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94415" cy="30353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信号のサイクル(ずっと繰り返す)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while True:   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True なので終わらない(無限ループ)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green.value(1)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緑を点ける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time.sleep(5)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5秒待つ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green.value(0)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緑を消す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yellow.value(1)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黄を点ける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time.sleep(2)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2秒待つ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yellow.value(0)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黄を消す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red.value(1)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赤を点ける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time.sleep(5)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5秒待つ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red.value(0)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赤を消す → また緑に戻る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47368"/>
            <a:ext cx="1069340" cy="228600"/>
          </a:xfrm>
          <a:prstGeom prst="roundRect">
            <a:avLst/>
          </a:prstGeom>
          <a:noFill/>
          <a:ln w="2540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信号機コードの読み解き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第3部 LED と信号機  |  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749"/>
                <a:gridCol w="6339665"/>
              </a:tblGrid>
              <a:tr h="64008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コード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意味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C62828"/>
                          </a:solidFill>
                          <a:latin typeface="MS Gothic"/>
                          <a:ea typeface="MS Gothic"/>
                          <a:cs typeface="MS Gothic"/>
                        </a:rPr>
                        <a:t>Pin(2, Pin.OUT)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GP2 を </a:t>
                      </a:r>
                      <a:r>
                        <a:rPr sz="2200" b="1">
                          <a:solidFill>
                            <a:srgbClr val="1F6FB2"/>
                          </a:solidFill>
                          <a:latin typeface="Meiryo"/>
                          <a:ea typeface="Meiryo"/>
                          <a:cs typeface="Meiryo"/>
                        </a:rPr>
                        <a:t>出力</a:t>
                      </a:r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 に設定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C62828"/>
                          </a:solidFill>
                          <a:latin typeface="MS Gothic"/>
                          <a:ea typeface="MS Gothic"/>
                          <a:cs typeface="MS Gothic"/>
                        </a:rPr>
                        <a:t>def all_off():</a:t>
                      </a:r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 + </a:t>
                      </a:r>
                      <a:r>
                        <a:rPr sz="2200" b="0">
                          <a:solidFill>
                            <a:srgbClr val="C62828"/>
                          </a:solidFill>
                          <a:latin typeface="MS Gothic"/>
                          <a:ea typeface="MS Gothic"/>
                          <a:cs typeface="MS Gothic"/>
                        </a:rPr>
                        <a:t>for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全部消す </a:t>
                      </a:r>
                      <a:r>
                        <a:rPr sz="2200" b="1">
                          <a:solidFill>
                            <a:srgbClr val="1F6FB2"/>
                          </a:solidFill>
                          <a:latin typeface="Meiryo"/>
                          <a:ea typeface="Meiryo"/>
                          <a:cs typeface="Meiryo"/>
                        </a:rPr>
                        <a:t>関数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C62828"/>
                          </a:solidFill>
                          <a:latin typeface="MS Gothic"/>
                          <a:ea typeface="MS Gothic"/>
                          <a:cs typeface="MS Gothic"/>
                        </a:rPr>
                        <a:t>for name, p in 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1個ずつ点灯 → </a:t>
                      </a:r>
                      <a:r>
                        <a:rPr sz="2200" b="1">
                          <a:solidFill>
                            <a:srgbClr val="1F6FB2"/>
                          </a:solidFill>
                          <a:latin typeface="Meiryo"/>
                          <a:ea typeface="Meiryo"/>
                          <a:cs typeface="Meiryo"/>
                        </a:rPr>
                        <a:t>配線と色が合っているか確認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C62828"/>
                          </a:solidFill>
                          <a:latin typeface="MS Gothic"/>
                          <a:ea typeface="MS Gothic"/>
                          <a:cs typeface="MS Gothic"/>
                        </a:rPr>
                        <a:t>while True: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緑 → 黄 → 赤 を </a:t>
                      </a:r>
                      <a:r>
                        <a:rPr sz="2200" b="1">
                          <a:solidFill>
                            <a:srgbClr val="1F6FB2"/>
                          </a:solidFill>
                          <a:latin typeface="Meiryo"/>
                          <a:ea typeface="Meiryo"/>
                          <a:cs typeface="Meiryo"/>
                        </a:rPr>
                        <a:t>くり返す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937760"/>
            <a:ext cx="11094415" cy="731520"/>
          </a:xfrm>
          <a:prstGeom prst="roundRect">
            <a:avLst/>
          </a:prstGeom>
          <a:solidFill>
            <a:srgbClr val="E8F1FB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★ 実習:秒数を変えてみよう!(例:緑3秒・黄1秒・赤3秒)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タクトスイッチのしくみ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第4部 タクトスイッチ  | 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押している間だけ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電気が通るスイッチ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・足は4本 →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対角線の足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を使うと確実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80360"/>
            <a:ext cx="237744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666666"/>
                </a:solidFill>
                <a:latin typeface="Meiryo"/>
                <a:ea typeface="Meiryo"/>
                <a:cs typeface="Meiryo"/>
              </a:rPr>
              <a:t>Pico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880360"/>
            <a:ext cx="237744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666666"/>
                </a:solidFill>
                <a:latin typeface="Meiryo"/>
                <a:ea typeface="Meiryo"/>
                <a:cs typeface="Meiryo"/>
              </a:rPr>
              <a:t>タクトスイッチ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2377440" cy="1408176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06240" y="3291840"/>
            <a:ext cx="2377440" cy="1408176"/>
          </a:xfrm>
          <a:prstGeom prst="roundRect">
            <a:avLst/>
          </a:prstGeom>
          <a:solidFill>
            <a:srgbClr val="F3F3F3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GP5(物理7)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429000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片側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3712464.0"/>
            <a:ext cx="1280160" cy="0.0"/>
          </a:xfrm>
          <a:prstGeom prst="line">
            <a:avLst/>
          </a:prstGeom>
          <a:ln w="381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3995928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GND(物理8)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995928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もう片側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26080" y="4279392.0"/>
            <a:ext cx="1280160" cy="0.0"/>
          </a:xfrm>
          <a:prstGeom prst="line">
            <a:avLst/>
          </a:prstGeom>
          <a:ln w="381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" y="5394960"/>
            <a:ext cx="11094415" cy="548640"/>
          </a:xfrm>
          <a:prstGeom prst="roundRect">
            <a:avLst/>
          </a:prstGeom>
          <a:solidFill>
            <a:srgbClr val="E8F1FB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2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★ 配布したピン配置図で、GP番号と物理ピン番号の両方を確かめよう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何もつながっていない入力は「ふらふら」する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第4部 タクトスイッチ  | 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6400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・押していないとき、GP5 は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どこにもつながっていない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(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フローティング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)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・HIGH か LOW か決まらない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・触っただけで値が変わることも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4023360"/>
            <a:ext cx="1645920" cy="7315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GP5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8412480" y="2651760"/>
            <a:ext cx="0" cy="1371600"/>
          </a:xfrm>
          <a:prstGeom prst="line">
            <a:avLst/>
          </a:prstGeom>
          <a:ln w="381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86800" y="14630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D96C00"/>
                </a:solidFill>
                <a:latin typeface="Meiryo"/>
                <a:ea typeface="Meiryo"/>
                <a:cs typeface="Meiryo"/>
              </a:rPr>
              <a:t>〰 ノイズ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22860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D96C00"/>
                </a:solidFill>
                <a:latin typeface="Meiryo"/>
                <a:ea typeface="Meiryo"/>
                <a:cs typeface="Meiryo"/>
              </a:rPr>
              <a:t>〰 ノイズ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1089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D96C00"/>
                </a:solidFill>
                <a:latin typeface="Meiryo"/>
                <a:ea typeface="Meiryo"/>
                <a:cs typeface="Meiryo"/>
              </a:rPr>
              <a:t>〰 ノイズ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8463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線がアンテナのようにノイズを拾う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94960"/>
            <a:ext cx="5852160" cy="548640"/>
          </a:xfrm>
          <a:prstGeom prst="roundRect">
            <a:avLst/>
          </a:prstGeom>
          <a:solidFill>
            <a:srgbClr val="FFF4E0"/>
          </a:solidFill>
          <a:ln w="19050">
            <a:solidFill>
              <a:srgbClr val="D9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2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⚠ 値が「1? 0? 1? 0?」とふらふら…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プルアップ抵抗とは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第4部 タクトスイッチ  | 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4389120" cy="21717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4389120" cy="21717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3.3V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│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[抵抗]  ← Pico の内部にある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│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├───── GP5(入力)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│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┴ スイッチ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│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GND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0" y="1325880"/>
          <a:ext cx="630935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2402"/>
                <a:gridCol w="1855694"/>
                <a:gridCol w="2041263"/>
              </a:tblGrid>
              <a:tr h="54864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ボタン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つながる先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値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押していない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3.3V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F6FB2"/>
                          </a:solidFill>
                          <a:latin typeface="Meiryo"/>
                          <a:ea typeface="Meiryo"/>
                          <a:cs typeface="Meiryo"/>
                        </a:rPr>
                        <a:t>HIGH(1)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押している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GND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F6FB2"/>
                          </a:solidFill>
                          <a:latin typeface="Meiryo"/>
                          <a:ea typeface="Meiryo"/>
                          <a:cs typeface="Meiryo"/>
                        </a:rPr>
                        <a:t>LOW(0)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03520" y="3200400"/>
            <a:ext cx="6309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2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Pin.PULL_UP</a:t>
            </a: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で内部のプルアップ抵抗を使える(外付け不要)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・抵抗があるので、押しても 3.3V と GND が </a:t>
            </a:r>
            <a:r>
              <a:rPr sz="22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ショートしない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94960"/>
            <a:ext cx="11094415" cy="640080"/>
          </a:xfrm>
          <a:prstGeom prst="roundRect">
            <a:avLst/>
          </a:prstGeom>
          <a:solidFill>
            <a:srgbClr val="FFF4E0"/>
          </a:solidFill>
          <a:ln w="19050">
            <a:solidFill>
              <a:srgbClr val="D9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⚠ </a:t>
            </a:r>
            <a:r>
              <a:rPr sz="22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「押すと 0」</a:t>
            </a: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になる点が逆なので注意!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チャタリング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第4部 タクトスイッチ  | 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・押した瞬間に接点が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細かく ON/OFF をくり返す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・1回押したのに、何回も押したように見える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108960"/>
            <a:ext cx="1371600" cy="0"/>
          </a:xfrm>
          <a:prstGeom prst="line">
            <a:avLst/>
          </a:prstGeom>
          <a:ln w="381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286000" y="3108960"/>
            <a:ext cx="0" cy="1097280"/>
          </a:xfrm>
          <a:prstGeom prst="line">
            <a:avLst/>
          </a:prstGeom>
          <a:ln w="381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286000" y="4206240"/>
            <a:ext cx="274320" cy="0"/>
          </a:xfrm>
          <a:prstGeom prst="line">
            <a:avLst/>
          </a:prstGeom>
          <a:ln w="381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560320" y="3108960"/>
            <a:ext cx="0" cy="1097280"/>
          </a:xfrm>
          <a:prstGeom prst="line">
            <a:avLst/>
          </a:prstGeom>
          <a:ln w="381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60320" y="3108960"/>
            <a:ext cx="182880" cy="0"/>
          </a:xfrm>
          <a:prstGeom prst="line">
            <a:avLst/>
          </a:prstGeom>
          <a:ln w="381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0" y="3108960"/>
            <a:ext cx="0" cy="1097280"/>
          </a:xfrm>
          <a:prstGeom prst="line">
            <a:avLst/>
          </a:prstGeom>
          <a:ln w="381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43200" y="4206240"/>
            <a:ext cx="274320" cy="0"/>
          </a:xfrm>
          <a:prstGeom prst="line">
            <a:avLst/>
          </a:prstGeom>
          <a:ln w="381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017520" y="3108960"/>
            <a:ext cx="0" cy="1097280"/>
          </a:xfrm>
          <a:prstGeom prst="line">
            <a:avLst/>
          </a:prstGeom>
          <a:ln w="381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17520" y="3108960"/>
            <a:ext cx="137160" cy="0"/>
          </a:xfrm>
          <a:prstGeom prst="line">
            <a:avLst/>
          </a:prstGeom>
          <a:ln w="381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154680" y="3108960"/>
            <a:ext cx="0" cy="1097280"/>
          </a:xfrm>
          <a:prstGeom prst="line">
            <a:avLst/>
          </a:prstGeom>
          <a:ln w="381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54680" y="4206240"/>
            <a:ext cx="3246120" cy="0"/>
          </a:xfrm>
          <a:prstGeom prst="line">
            <a:avLst/>
          </a:prstGeom>
          <a:ln w="381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03120" y="434340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D96C00"/>
                </a:solidFill>
                <a:latin typeface="Meiryo"/>
                <a:ea typeface="Meiryo"/>
                <a:cs typeface="Meiryo"/>
              </a:rPr>
              <a:t>バタバタ!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2971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4069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3017520"/>
            <a:ext cx="4480560" cy="1463040"/>
          </a:xfrm>
          <a:prstGeom prst="roundRect">
            <a:avLst/>
          </a:prstGeom>
          <a:solidFill>
            <a:srgbClr val="E8F1FB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対策: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少し待って(20ms)</a:t>
            </a:r>
          </a:p>
          <a:p>
            <a:pPr algn="ctr"/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もう一度確認する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押しボタン信号(ポーリング版)コード(1/3)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第4部 タクトスイッチ  | 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色付き枠: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88E5"/>
                </a:solidFill>
                <a:latin typeface="Meiryo"/>
                <a:ea typeface="Meiryo"/>
                <a:cs typeface="Meiryo"/>
              </a:rPr>
              <a:t>for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3A047"/>
                </a:solidFill>
                <a:latin typeface="Meiryo"/>
                <a:ea typeface="Meiryo"/>
                <a:cs typeface="Meiryo"/>
              </a:rPr>
              <a:t>def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1094415" cy="43307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1094415" cy="43307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必要な道具を読み込む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from machine import Pin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import time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ピンの設定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red    = Pin(2, Pin.OUT)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GP2:赤(出力)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yellow = Pin(3, Pin.OUT)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GP3:黄(出力)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green  = Pin(4, Pin.OUT)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GP4:緑(出力)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GP5 をボタン用の「入力(IN)」にする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PULL_UP:内部のプルアップ抵抗を使う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  押していない → 1(HIGH)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  押している   → 0(LOW) ← 押すと 0 になる点に注意!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button = Pin(5, Pin.IN, Pin.PULL_UP)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関数:全部のLEDを消す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def all_off():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for p in (red, yellow, green):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p.value(0)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785868"/>
            <a:ext cx="1336040" cy="228600"/>
          </a:xfrm>
          <a:prstGeom prst="roundRect">
            <a:avLst/>
          </a:prstGeom>
          <a:noFill/>
          <a:ln w="254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5680" y="5001768"/>
            <a:ext cx="2758440" cy="228600"/>
          </a:xfrm>
          <a:prstGeom prst="roundRect">
            <a:avLst/>
          </a:prstGeom>
          <a:noFill/>
          <a:ln w="254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→ 次のスライドに続く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押しボタン信号(ポーリング版)コード(2/3)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第4部 タクトスイッチ  | 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色付き枠: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E24AA"/>
                </a:solidFill>
                <a:latin typeface="Meiryo"/>
                <a:ea typeface="Meiryo"/>
                <a:cs typeface="Meiryo"/>
              </a:rPr>
              <a:t>while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53935"/>
                </a:solidFill>
                <a:latin typeface="Meiryo"/>
                <a:ea typeface="Meiryo"/>
                <a:cs typeface="Meiryo"/>
              </a:rPr>
              <a:t>if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1094415" cy="43307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1094415" cy="43307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スタート時の状態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all_off()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green.value(1)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車用の信号は緑で待つ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print("待機中(緑)")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メインの繰り返し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while True: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ボタンの状態を読む。0 なら押されている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if button.value() == 0: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time.sleep_ms(20) 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20ミリ秒待つ(チャタリング対策)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if button.value() == 0: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20ミリ秒後もまだ押されていたら「本当に押した」と判断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print("ボタン押下")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time.sleep(3) 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押してからすぐには変わらず、3秒待つ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緑 → 黄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green.value(0)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yellow.value(1)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print("黄")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time.sleep(2) 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黄は2秒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26868"/>
            <a:ext cx="1069340" cy="228600"/>
          </a:xfrm>
          <a:prstGeom prst="roundRect">
            <a:avLst/>
          </a:prstGeom>
          <a:noFill/>
          <a:ln w="2540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5680" y="3058668"/>
            <a:ext cx="2136140" cy="228600"/>
          </a:xfrm>
          <a:prstGeom prst="roundRect">
            <a:avLst/>
          </a:prstGeom>
          <a:noFill/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51280" y="3490468"/>
            <a:ext cx="2136140" cy="228600"/>
          </a:xfrm>
          <a:prstGeom prst="roundRect">
            <a:avLst/>
          </a:prstGeom>
          <a:noFill/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→ 次のスライドに続く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押しボタン信号(ポーリング版)コード(3/3)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第4部 タクトスイッチ  | 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色付き枠: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E24AA"/>
                </a:solidFill>
                <a:latin typeface="Meiryo"/>
                <a:ea typeface="Meiryo"/>
                <a:cs typeface="Meiryo"/>
              </a:rPr>
              <a:t>while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1094415" cy="41148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94415" cy="41148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黄 → 赤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yellow.value(0)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red.value(1)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print("赤(歩行者OK)")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time.sleep(5) 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赤は5秒(この間に歩行者がわたる)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赤 → 緑(元に戻る)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red.value(0)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green.value(1)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print("緑に復帰")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ボタンが押しっぱなしなら、離されるまでここで待つ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(待たないと、すぐに次のサイクルが始まってしまう)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while button.value() == 0: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    time.sleep_ms(10)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10ミリ秒ごとにボタンを見に行く(これがポーリング)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time.sleep_ms(10)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6880" y="4138168"/>
            <a:ext cx="2402840" cy="228600"/>
          </a:xfrm>
          <a:prstGeom prst="roundRect">
            <a:avLst/>
          </a:prstGeom>
          <a:noFill/>
          <a:ln w="2540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ポーリング版の読み解き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第4部 タクトスイッチ  | 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ポーリング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=「何度も見に行って確認する」方式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if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の中に 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if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(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入れ子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)→ チャタリング対策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while button.value() == 0: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→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離すまで待つ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31920"/>
            <a:ext cx="11094415" cy="1280160"/>
          </a:xfrm>
          <a:prstGeom prst="roundRect">
            <a:avLst/>
          </a:prstGeom>
          <a:solidFill>
            <a:srgbClr val="FFF4E0"/>
          </a:solidFill>
          <a:ln w="19050">
            <a:solidFill>
              <a:srgbClr val="D9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⚠ 実験:黄・赤の最中にボタンを押してみよう</a:t>
            </a:r>
          </a:p>
          <a:p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→ まったく反応しない! 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sleep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中は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見ていない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から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割り込み(irq)とは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第4部 タクトスイッチ  |  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03520" cy="1371600"/>
          </a:xfrm>
          <a:prstGeom prst="roundRect">
            <a:avLst/>
          </a:prstGeom>
          <a:solidFill>
            <a:srgbClr val="F3F3F3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ポーリング</a:t>
            </a:r>
          </a:p>
          <a:p>
            <a:pPr algn="ctr"/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郵便受けを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何度も見に行く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5303520" cy="1371600"/>
          </a:xfrm>
          <a:prstGeom prst="roundRect">
            <a:avLst/>
          </a:prstGeom>
          <a:solidFill>
            <a:srgbClr val="E8F1FB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割り込み</a:t>
            </a:r>
          </a:p>
          <a:p>
            <a:pPr algn="ctr"/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インターホンが鳴ったら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出る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1094415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・割り込み =「何かが起きたら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知らせてもらう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」方式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Pin.IRQ_FALLING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:HIGH → LOW に変わった瞬間(=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押した瞬間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)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・割り込みで呼ばれる関数(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ハンドラ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)は短く: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フラグを立てるだけ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押しボタン信号(irq版)コード(1/4)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第4部 タクトスイッチ  | 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色付き枠: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3A047"/>
                </a:solidFill>
                <a:latin typeface="Meiryo"/>
                <a:ea typeface="Meiryo"/>
                <a:cs typeface="Meiryo"/>
              </a:rPr>
              <a:t>def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1094415" cy="43307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94415" cy="43307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必要な道具を読み込む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from machine import Pin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import time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ピンの設定(ポーリング版と同じ)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red    = Pin(2, Pin.OUT)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yellow = Pin(3, Pin.OUT)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green  = Pin(4, Pin.OUT)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button = Pin(5, Pin.IN, Pin.PULL_UP)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押すと 0 になる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フラグ(目印)の変数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ボタンが押されたら True にする。最初は「押されていない」= False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pressed = False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割り込みで呼ばれる関数(ハンドラ)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ボタンが押された瞬間に、Pico が自動でこの関数を呼んでくれる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def on_press(pin):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global pressed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関数の外にある pressed を書き換えるための宣言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pressed = True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「押されたよ」と目印を立てるだけ(短く書くのが大事)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785868"/>
            <a:ext cx="1691640" cy="228600"/>
          </a:xfrm>
          <a:prstGeom prst="roundRect">
            <a:avLst/>
          </a:prstGeom>
          <a:noFill/>
          <a:ln w="254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→ 次のスライドに続く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押しボタン信号(irq版)コード(2/4)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第4部 タクトスイッチ  | 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色付き枠: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E24AA"/>
                </a:solidFill>
                <a:latin typeface="Meiryo"/>
                <a:ea typeface="Meiryo"/>
                <a:cs typeface="Meiryo"/>
              </a:rPr>
              <a:t>while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53935"/>
                </a:solidFill>
                <a:latin typeface="Meiryo"/>
                <a:ea typeface="Meiryo"/>
                <a:cs typeface="Meiryo"/>
              </a:rPr>
              <a:t>if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88E5"/>
                </a:solidFill>
                <a:latin typeface="Meiryo"/>
                <a:ea typeface="Meiryo"/>
                <a:cs typeface="Meiryo"/>
              </a:rPr>
              <a:t>for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3A047"/>
                </a:solidFill>
                <a:latin typeface="Meiryo"/>
                <a:ea typeface="Meiryo"/>
                <a:cs typeface="Meiryo"/>
              </a:rPr>
              <a:t>def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234440"/>
            <a:ext cx="11094415" cy="47625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1094415" cy="47625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割り込みの登録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IRQ_FALLING:1 → 0 に変わった瞬間(=押した瞬間)に on_press を呼ぶ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button.irq(trigger=Pin.IRQ_FALLING, handler=on_press)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関数:全部のLEDを消す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def all_off():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for p in (red, yellow, green):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p.value(0)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スタート時の状態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all_off()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green.value(1)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print("待機中(緑)")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メインの繰り返し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while True: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ボタンを直接見に行かず、目印(pressed)を確認する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if pressed: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pressed = False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目印を下ろしておく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print("ボタン押下")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time.sleep_ms(3000)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3秒待つ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10968"/>
            <a:ext cx="1336040" cy="228600"/>
          </a:xfrm>
          <a:prstGeom prst="roundRect">
            <a:avLst/>
          </a:prstGeom>
          <a:noFill/>
          <a:ln w="254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95680" y="2626868"/>
            <a:ext cx="2758440" cy="228600"/>
          </a:xfrm>
          <a:prstGeom prst="roundRect">
            <a:avLst/>
          </a:prstGeom>
          <a:noFill/>
          <a:ln w="254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4569968"/>
            <a:ext cx="1069340" cy="228600"/>
          </a:xfrm>
          <a:prstGeom prst="roundRect">
            <a:avLst/>
          </a:prstGeom>
          <a:noFill/>
          <a:ln w="2540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5680" y="5001768"/>
            <a:ext cx="1069340" cy="228600"/>
          </a:xfrm>
          <a:prstGeom prst="roundRect">
            <a:avLst/>
          </a:prstGeom>
          <a:noFill/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→ 次のスライドに続く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押しボタン信号(irq版)コード(3/4)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第4部 タクトスイッチ  |  32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4415" cy="260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94415" cy="26035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緑 → 黄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green.value(0)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yellow.value(1)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print("黄")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time.sleep_ms(2000)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黄は2秒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黄 → 赤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yellow.value(0)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red.value(1)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print("赤(歩行者OK)")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time.sleep_ms(5000)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赤は5秒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→ 次のスライドに続く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押しボタン信号(irq版)コード(4/4)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第4部 タクトスイッチ  |  33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4415" cy="260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94415" cy="26035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赤 → 緑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red.value(0)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green.value(1)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print("緑に復帰")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黄・赤の間に押されていても、割り込みで目印が立っている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ここで False に戻すと「その押下は無視」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この行を消すと「予約」として次のサイクルが始まる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pressed = False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time.sleep_ms(50) 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0.05秒ごとに目印を確認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irq版の読み解きとポーリング版との比較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第4部 タクトスイッチ  | 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global pressed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:関数の外の変数を書き換えるための宣言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57400"/>
          <a:ext cx="11094413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1781"/>
                <a:gridCol w="4006316"/>
                <a:gridCol w="4006316"/>
              </a:tblGrid>
              <a:tr h="640080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ポーリング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割り込み(irq)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しくみ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何度も見に行く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起きたら知らせてもらう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sleep 中の押下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気づかない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F6FB2"/>
                          </a:solidFill>
                          <a:latin typeface="Meiryo"/>
                          <a:ea typeface="Meiryo"/>
                          <a:cs typeface="Meiryo"/>
                        </a:rPr>
                        <a:t>フラグとして残る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わかりやすさ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わかりやすい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少し難しい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572000"/>
            <a:ext cx="11094415" cy="1188720"/>
          </a:xfrm>
          <a:prstGeom prst="roundRect">
            <a:avLst/>
          </a:prstGeom>
          <a:solidFill>
            <a:srgbClr val="E8F1FB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★ 発展:最後の </a:t>
            </a:r>
            <a:r>
              <a:rPr sz="22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pressed = False</a:t>
            </a: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を消すと?</a:t>
            </a:r>
          </a:p>
          <a:p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→「</a:t>
            </a:r>
            <a:r>
              <a:rPr sz="22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予約</a:t>
            </a: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」として次のサイクルにつながる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人感センサーのしくみ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第5部 人感センサー  | 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60350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・人の体から出る </a:t>
            </a:r>
            <a:r>
              <a:rPr sz="22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赤外線(熱)の変化</a:t>
            </a: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を感じ取る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・検知すると OUT が </a:t>
            </a:r>
            <a:r>
              <a:rPr sz="22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HIGH</a:t>
            </a: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、いなくなると </a:t>
            </a:r>
            <a:r>
              <a:rPr sz="22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LOW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・電源を入れて数十秒は不安定(</a:t>
            </a:r>
            <a:r>
              <a:rPr sz="22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ウォームアップ</a:t>
            </a: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)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・検知後しばらく HIGH が続く(</a:t>
            </a:r>
            <a:r>
              <a:rPr sz="22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ホールド時間</a:t>
            </a: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371600"/>
            <a:ext cx="237744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666666"/>
                </a:solidFill>
                <a:latin typeface="Meiryo"/>
                <a:ea typeface="Meiryo"/>
                <a:cs typeface="Meiryo"/>
              </a:rPr>
              <a:t>Pico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371600"/>
            <a:ext cx="237744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666666"/>
                </a:solidFill>
                <a:latin typeface="Meiryo"/>
                <a:ea typeface="Meiryo"/>
                <a:cs typeface="Meiryo"/>
              </a:rPr>
              <a:t>SB412A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783080"/>
            <a:ext cx="2377440" cy="1975104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35440" y="1783080"/>
            <a:ext cx="2377440" cy="1975104"/>
          </a:xfrm>
          <a:prstGeom prst="roundRect">
            <a:avLst/>
          </a:prstGeom>
          <a:solidFill>
            <a:srgbClr val="F3F3F3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3V3(OUT)(物理36)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920240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VCC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52560" y="2203704.0"/>
            <a:ext cx="182880" cy="0.0"/>
          </a:xfrm>
          <a:prstGeom prst="line">
            <a:avLst/>
          </a:prstGeom>
          <a:ln w="381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675120" y="2487168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GND(物理38)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487168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GND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52560" y="2770632.0"/>
            <a:ext cx="182880" cy="0.0"/>
          </a:xfrm>
          <a:prstGeom prst="line">
            <a:avLst/>
          </a:prstGeom>
          <a:ln w="381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75120" y="3054096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GP15(物理20)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054096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OUT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52560" y="3337560.0"/>
            <a:ext cx="182880" cy="0.0"/>
          </a:xfrm>
          <a:prstGeom prst="line">
            <a:avLst/>
          </a:prstGeom>
          <a:ln w="381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" y="5212080"/>
            <a:ext cx="11094415" cy="822960"/>
          </a:xfrm>
          <a:prstGeom prst="roundRect">
            <a:avLst/>
          </a:prstGeom>
          <a:solidFill>
            <a:srgbClr val="FFF4E0"/>
          </a:solidFill>
          <a:ln w="19050">
            <a:solidFill>
              <a:srgbClr val="D9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2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⚠ 基板の印字で </a:t>
            </a:r>
            <a:r>
              <a:rPr sz="20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VCC / OUT / GND の並び</a:t>
            </a:r>
            <a:r>
              <a:rPr sz="2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を必ず確認!  配布したピン配置図で、GP番号と物理ピン番号の両方を確かめよう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人感センサーのコード(1/2)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第5部 人感センサー  |  36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4415" cy="4546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94415" cy="45466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必要な道具を読み込む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from machine import Pin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import time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ピンの設定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GP15 を人感センサーの入力にする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PULL_DOWN:何もつながっていないときは 0(LOW)に固定する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pir = Pin(15, Pin.IN, Pin.PULL_DOWN)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Pico 本体に付いているLEDを出力にする(番号ではなく "LED" と名前で指定する)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led = Pin("LED", Pin.OUT)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ウォームアップ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電源を入れてすぐはセンサーが不安定なので30秒待つ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print("ウォームアップ中...")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time.sleep(30)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print("開始")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前回の値を覚えておく変数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prev = 0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最初は「検知なし」として始める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→ 次のスライドに続く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人感センサーのコード(2/2)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第5部 人感センサー  | 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色付き枠: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E24AA"/>
                </a:solidFill>
                <a:latin typeface="Meiryo"/>
                <a:ea typeface="Meiryo"/>
                <a:cs typeface="Meiryo"/>
              </a:rPr>
              <a:t>while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53935"/>
                </a:solidFill>
                <a:latin typeface="Meiryo"/>
                <a:ea typeface="Meiryo"/>
                <a:cs typeface="Meiryo"/>
              </a:rPr>
              <a:t>if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1094415" cy="34671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1094415" cy="34671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メインの繰り返し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while True: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now = pir.value()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今のセンサーの値(1:検知、0:検知なし)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前回と値が変わったときだけ表示する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(毎回表示すると Shell が文字だらけになるため)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if now != prev: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if now == 1: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print("検知!")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else: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print("検知なし")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led.value(now)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検知中は本体LEDを点ける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prev = now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今の値を「前回の値」として覚える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time.sleep_ms(100)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0.1秒ごとに確認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368"/>
            <a:ext cx="1069340" cy="228600"/>
          </a:xfrm>
          <a:prstGeom prst="roundRect">
            <a:avLst/>
          </a:prstGeom>
          <a:noFill/>
          <a:ln w="2540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5680" y="2626868"/>
            <a:ext cx="1424940" cy="228600"/>
          </a:xfrm>
          <a:prstGeom prst="roundRect">
            <a:avLst/>
          </a:prstGeom>
          <a:noFill/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51280" y="2842768"/>
            <a:ext cx="1158240" cy="228600"/>
          </a:xfrm>
          <a:prstGeom prst="roundRect">
            <a:avLst/>
          </a:prstGeom>
          <a:noFill/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51280" y="3274568"/>
            <a:ext cx="535939" cy="228600"/>
          </a:xfrm>
          <a:prstGeom prst="roundRect">
            <a:avLst/>
          </a:prstGeom>
          <a:noFill/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人感センサーコードの読み解き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第5部 人感センサー  |  38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9582"/>
                <a:gridCol w="4087416"/>
                <a:gridCol w="4087416"/>
              </a:tblGrid>
              <a:tr h="594360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プルアップ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プルダウン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何もないとき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3.3V に引っ張る → </a:t>
                      </a:r>
                      <a:r>
                        <a:rPr sz="2200" b="1">
                          <a:solidFill>
                            <a:srgbClr val="1F6FB2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GND に引っ張る → </a:t>
                      </a:r>
                      <a:r>
                        <a:rPr sz="2200" b="1">
                          <a:solidFill>
                            <a:srgbClr val="1F6FB2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書き方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C62828"/>
                          </a:solidFill>
                          <a:latin typeface="MS Gothic"/>
                          <a:ea typeface="MS Gothic"/>
                          <a:cs typeface="MS Gothic"/>
                        </a:rPr>
                        <a:t>Pin.PULL_UP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C62828"/>
                          </a:solidFill>
                          <a:latin typeface="MS Gothic"/>
                          <a:ea typeface="MS Gothic"/>
                          <a:cs typeface="MS Gothic"/>
                        </a:rPr>
                        <a:t>Pin.PULL_DOWN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91840"/>
            <a:ext cx="1109441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prev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(前回の値)と 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now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(今の値)をくらべて、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変化したときだけ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表示する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754880"/>
            <a:ext cx="11094415" cy="731520"/>
          </a:xfrm>
          <a:prstGeom prst="roundRect">
            <a:avLst/>
          </a:prstGeom>
          <a:solidFill>
            <a:srgbClr val="E8F1FB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★ 実習:検知したら信号機を赤にしてみよう!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超音波センサーのしくみ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第6部 超音波センサー  | 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・人に聞こえない高い音(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40kHz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)を出し、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返ってくるまでの時間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を測る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・コウモリやイルカと同じ考え方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Trig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:音を出す合図/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Echo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:返ってくるまでの時間だけ HIGH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2194560" cy="1280160"/>
          </a:xfrm>
          <a:prstGeom prst="roundRect">
            <a:avLst/>
          </a:prstGeom>
          <a:solidFill>
            <a:srgbClr val="E8F1FB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センサー</a:t>
            </a:r>
          </a:p>
          <a:p>
            <a:pPr algn="ctr"/>
            <a:r>
              <a:rPr sz="2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HC-SR04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4114800"/>
            <a:ext cx="1645920" cy="1280160"/>
          </a:xfrm>
          <a:prstGeom prst="rect">
            <a:avLst/>
          </a:prstGeom>
          <a:solidFill>
            <a:srgbClr val="F3F3F3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物体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0" y="4434840"/>
            <a:ext cx="5852160" cy="0"/>
          </a:xfrm>
          <a:prstGeom prst="line">
            <a:avLst/>
          </a:prstGeom>
          <a:ln w="381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0" y="40233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1F6FB2"/>
                </a:solidFill>
                <a:latin typeface="Meiryo"/>
                <a:ea typeface="Meiryo"/>
                <a:cs typeface="Meiryo"/>
              </a:rPr>
              <a:t>(音)→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5074920"/>
            <a:ext cx="5852160" cy="0"/>
          </a:xfrm>
          <a:prstGeom prst="line">
            <a:avLst/>
          </a:prstGeom>
          <a:ln w="38100">
            <a:solidFill>
              <a:srgbClr val="D96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0" y="46634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96C00"/>
                </a:solidFill>
                <a:latin typeface="Meiryo"/>
                <a:ea typeface="Meiryo"/>
                <a:cs typeface="Meiryo"/>
              </a:rPr>
              <a:t>←(反射)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音の速さから距離を求める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第6部 超音波センサー  | 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音速 約 </a:t>
            </a:r>
            <a:r>
              <a:rPr sz="20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340m/秒</a:t>
            </a:r>
            <a:r>
              <a:rPr sz="2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(気温15℃付近。正確には </a:t>
            </a:r>
            <a:r>
              <a:rPr sz="20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331.5 + 0.6 × 気温</a:t>
            </a:r>
            <a:r>
              <a:rPr sz="2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)μs = 100万分の1秒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① 単位をそろえる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2011680" cy="566928"/>
          </a:xfrm>
          <a:prstGeom prst="roundRect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2194560"/>
            <a:ext cx="3474720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m/秒 → cm/秒 → cm/μs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71216"/>
            <a:ext cx="2011680" cy="566928"/>
          </a:xfrm>
          <a:prstGeom prst="roundRect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数値を入れる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871216"/>
            <a:ext cx="3474720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340m/秒 = 34000cm/秒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47872"/>
            <a:ext cx="2011680" cy="566928"/>
          </a:xfrm>
          <a:prstGeom prst="roundRect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答え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3547872"/>
            <a:ext cx="3474720" cy="566928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8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0.034cm/μs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9164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② 往復なので 2 で割る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194560"/>
            <a:ext cx="2011680" cy="566928"/>
          </a:xfrm>
          <a:prstGeom prst="roundRect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194560"/>
            <a:ext cx="3200400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距離 = 時間 × 0.034 ÷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871216"/>
            <a:ext cx="2011680" cy="566928"/>
          </a:xfrm>
          <a:prstGeom prst="roundRect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数値を入れる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2871216"/>
            <a:ext cx="3200400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= 時間 × 0.017 = 時間 ÷ 58.8…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547872"/>
            <a:ext cx="2011680" cy="566928"/>
          </a:xfrm>
          <a:prstGeom prst="roundRect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答え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3547872"/>
            <a:ext cx="3200400" cy="566928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8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距離 ≒ 時間 ÷ 58(</a:t>
            </a:r>
            <a:r>
              <a:rPr sz="1800" b="1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t / 58</a:t>
            </a:r>
            <a:r>
              <a:rPr sz="18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③ 例:Echo が 580μs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09160"/>
            <a:ext cx="2011680" cy="566928"/>
          </a:xfrm>
          <a:prstGeom prst="roundRect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4709160"/>
            <a:ext cx="8991295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距離 = 時間 ÷ 58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85816"/>
            <a:ext cx="2011680" cy="566928"/>
          </a:xfrm>
          <a:prstGeom prst="roundRect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数値を入れる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5385816"/>
            <a:ext cx="8991295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580 ÷ 58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6062472"/>
            <a:ext cx="2011680" cy="566928"/>
          </a:xfrm>
          <a:prstGeom prst="roundRect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答え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6062472"/>
            <a:ext cx="8991295" cy="566928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8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10cm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5V と 3.3V の問題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第6部 超音波センサー  |  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108960" cy="1463040"/>
          </a:xfrm>
          <a:prstGeom prst="roundRect">
            <a:avLst/>
          </a:prstGeom>
          <a:solidFill>
            <a:srgbClr val="FDECEA"/>
          </a:solidFill>
          <a:ln w="1905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HC-SR04</a:t>
            </a:r>
          </a:p>
          <a:p>
            <a:pPr algn="ctr"/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Echo から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5V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011680"/>
            <a:ext cx="3108960" cy="14630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Pico</a:t>
            </a:r>
          </a:p>
          <a:p>
            <a:pPr algn="ctr"/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入力は </a:t>
            </a:r>
            <a:r>
              <a:rPr sz="24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3.3V まで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23360" y="2743200"/>
            <a:ext cx="4114800" cy="0"/>
          </a:xfrm>
          <a:prstGeom prst="line">
            <a:avLst/>
          </a:prstGeom>
          <a:ln w="508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210312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E53935"/>
                </a:solidFill>
                <a:latin typeface="Meiryo"/>
                <a:ea typeface="Meiryo"/>
                <a:cs typeface="Meiryo"/>
              </a:rPr>
              <a:t>5V そのままは 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11094415" cy="1280160"/>
          </a:xfrm>
          <a:prstGeom prst="roundRect">
            <a:avLst/>
          </a:prstGeom>
          <a:solidFill>
            <a:srgbClr val="FFF4E0"/>
          </a:solidFill>
          <a:ln w="19050">
            <a:solidFill>
              <a:srgbClr val="D9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26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⚠ 5V をそのまま入れると </a:t>
            </a:r>
            <a:r>
              <a:rPr sz="26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壊れるおそれ</a:t>
            </a:r>
          </a:p>
          <a:p>
            <a:r>
              <a:rPr sz="26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→ 電圧を下げる </a:t>
            </a:r>
            <a:r>
              <a:rPr sz="26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「分圧回路」</a:t>
            </a:r>
            <a:r>
              <a:rPr sz="26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を使う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抵抗で電圧を分ける(分圧)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第6部 超音波センサー  | 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949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出力電圧 = 入力電圧 × R2 ÷(R1 + R2)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011680" cy="566928"/>
          </a:xfrm>
          <a:prstGeom prst="roundRect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737360"/>
            <a:ext cx="4846320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5V × R2 ÷(R1 + R2)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14016"/>
            <a:ext cx="2011680" cy="566928"/>
          </a:xfrm>
          <a:prstGeom prst="roundRect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数値を入れる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414016"/>
            <a:ext cx="4846320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5V × 2kΩ ÷(1kΩ + 2kΩ)= 5 × 2/3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90672"/>
            <a:ext cx="2011680" cy="566928"/>
          </a:xfrm>
          <a:prstGeom prst="roundRect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答え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3090672"/>
            <a:ext cx="4846320" cy="566928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≒ 3.3V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234440"/>
            <a:ext cx="3749039" cy="13081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234440"/>
            <a:ext cx="3749039" cy="13081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Echo ──[1kΩ]──┬── GP11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  │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[2kΩ]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  │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 GND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651760"/>
            <a:ext cx="374903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R1 = 1kΩ(Echo 側)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R2 = 2kΩ(GND 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94760"/>
            <a:ext cx="11094415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・たとえ:水の流れを2つの坂に分けると、途中の高さは坂の長さで決まる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2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Trig</a:t>
            </a: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は 3.3V の信号で動くので </a:t>
            </a:r>
            <a:r>
              <a:rPr sz="22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直結 OK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・3.3V 対応品(</a:t>
            </a:r>
            <a:r>
              <a:rPr sz="22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HC-SR04P</a:t>
            </a: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など)なら分圧は不要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超音波センサーの配線まとめ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第6部 超音波センサー  |  43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37744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666666"/>
                </a:solidFill>
                <a:latin typeface="Meiryo"/>
                <a:ea typeface="Meiryo"/>
                <a:cs typeface="Meiryo"/>
              </a:rPr>
              <a:t>Pico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371600"/>
            <a:ext cx="237744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666666"/>
                </a:solidFill>
                <a:latin typeface="Meiryo"/>
                <a:ea typeface="Meiryo"/>
                <a:cs typeface="Meiryo"/>
              </a:rPr>
              <a:t>HC-SR04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377440" cy="2542032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0" y="1783080"/>
            <a:ext cx="2377440" cy="2542032"/>
          </a:xfrm>
          <a:prstGeom prst="roundRect">
            <a:avLst/>
          </a:prstGeom>
          <a:solidFill>
            <a:srgbClr val="F3F3F3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VBUS 5V(物理40)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VCC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80" y="2203704.0"/>
            <a:ext cx="1828800" cy="0.0"/>
          </a:xfrm>
          <a:prstGeom prst="line">
            <a:avLst/>
          </a:prstGeom>
          <a:ln w="381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487168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GND(物理38)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87168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26080" y="2770632.0"/>
            <a:ext cx="1828800" cy="0.0"/>
          </a:xfrm>
          <a:prstGeom prst="line">
            <a:avLst/>
          </a:prstGeom>
          <a:ln w="381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054096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GP10(物理14)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54096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Trig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26080" y="3337560.0"/>
            <a:ext cx="1828800" cy="0.0"/>
          </a:xfrm>
          <a:prstGeom prst="line">
            <a:avLst/>
          </a:prstGeom>
          <a:ln w="381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3621024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GP11(物理15)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621024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Echo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26080" y="3904488.0"/>
            <a:ext cx="1828800" cy="0.0"/>
          </a:xfrm>
          <a:prstGeom prst="line">
            <a:avLst/>
          </a:prstGeom>
          <a:ln w="38100">
            <a:solidFill>
              <a:srgbClr val="D96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46120" y="3621024"/>
            <a:ext cx="1737360" cy="384048"/>
          </a:xfrm>
          <a:prstGeom prst="roundRect">
            <a:avLst/>
          </a:prstGeom>
          <a:solidFill>
            <a:srgbClr val="FFF4E0"/>
          </a:solidFill>
          <a:ln w="19050">
            <a:solidFill>
              <a:srgbClr val="D9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分圧回路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600200"/>
            <a:ext cx="4023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・VCC は </a:t>
            </a:r>
            <a:r>
              <a:rPr sz="22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VBUS(5V)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・Echo は </a:t>
            </a:r>
            <a:r>
              <a:rPr sz="22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分圧回路経由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・Trig は直結 OK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03520"/>
            <a:ext cx="11094415" cy="548640"/>
          </a:xfrm>
          <a:prstGeom prst="roundRect">
            <a:avLst/>
          </a:prstGeom>
          <a:solidFill>
            <a:srgbClr val="E8F1FB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2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★ 配布したピン配置図で、GP番号と物理ピン番号の両方を確かめよう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超音波センサーのコード(1/3)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第6部 超音波センサー  |  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色付き枠: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3A047"/>
                </a:solidFill>
                <a:latin typeface="Meiryo"/>
                <a:ea typeface="Meiryo"/>
                <a:cs typeface="Meiryo"/>
              </a:rPr>
              <a:t>def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1094415" cy="4546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94415" cy="45466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必要な道具を読み込む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time_pulse_us:ピンが HIGH になっている時間を μs(100万分の1秒)単位で測る道具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from machine import Pin, time_pulse_us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import time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ピンの設定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trig = Pin(10, Pin.OUT)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GP10:Trig(音を出す合図を送る → 出力)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echo = Pin(11, Pin.IN)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GP11:Echo(返ってきた時間を受け取る → 入力)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        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※ Echo は分圧回路(1kΩ・2kΩ)を通してつなぐ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関数:距離を測って cm で返す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def read_cm():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合図の前に、いったん 0 にして落ち着かせる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trig.value(0)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time.sleep_us(2)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10μs だけ 1 にする → センサーが超音波を出す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trig.value(1)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time.sleep_us(10)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trig.value(0)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06368"/>
            <a:ext cx="1336040" cy="228600"/>
          </a:xfrm>
          <a:prstGeom prst="roundRect">
            <a:avLst/>
          </a:prstGeom>
          <a:noFill/>
          <a:ln w="254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→ 次のスライドに続く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超音波センサーのコード(2/3)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第6部 超音波センサー  | 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色付き枠: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53935"/>
                </a:solidFill>
                <a:latin typeface="Meiryo"/>
                <a:ea typeface="Meiryo"/>
                <a:cs typeface="Meiryo"/>
              </a:rPr>
              <a:t>if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1094415" cy="260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94415" cy="26035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Echo が 1 になっている時間(音が往復した時間)を測る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30000μs(=30ミリ秒)待っても返ってこなければあきらめる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t = time_pulse_us(echo, 1, 30000)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測れなかったとき、t はマイナスの値になる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if t &lt; 0: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return None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None =「値なし」を返す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時間(μs)を距離(cm)に変える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音速 0.034cm/μs × 時間 ÷ 2(往復なので)≒ 時間 ÷ 58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return t / 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5680" y="2410968"/>
            <a:ext cx="891540" cy="228600"/>
          </a:xfrm>
          <a:prstGeom prst="roundRect">
            <a:avLst/>
          </a:prstGeom>
          <a:noFill/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→ 次のスライドに続く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超音波センサーのコード(3/3)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第6部 超音波センサー  |  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色付き枠: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E24AA"/>
                </a:solidFill>
                <a:latin typeface="Meiryo"/>
                <a:ea typeface="Meiryo"/>
                <a:cs typeface="Meiryo"/>
              </a:rPr>
              <a:t>while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6419088"/>
            <a:ext cx="8229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53935"/>
                </a:solidFill>
                <a:latin typeface="Meiryo"/>
                <a:ea typeface="Meiryo"/>
                <a:cs typeface="Meiryo"/>
              </a:rPr>
              <a:t>if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1094415" cy="260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1094415" cy="26035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---- メインの繰り返し ----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while True: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d = read_cm()  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距離を測る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if d is None: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print("測定不可")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else: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{:.1f} は「小数第1位まで表示する」という意味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    print("{:.1f} cm".format(d))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lnSpc>
                <a:spcPts val="1700"/>
              </a:lnSpc>
            </a:pPr>
            <a:r>
              <a:rPr sz="1400" b="0">
                <a:solidFill>
                  <a:srgbClr val="222222"/>
                </a:solidFill>
                <a:latin typeface="MS Gothic"/>
                <a:ea typeface="MS Gothic"/>
                <a:cs typeface="MS Gothic"/>
              </a:rPr>
              <a:t>    time.sleep_ms(200)     </a:t>
            </a:r>
            <a:r>
              <a:rPr sz="1400" b="0">
                <a:solidFill>
                  <a:srgbClr val="2E7D32"/>
                </a:solidFill>
                <a:latin typeface="MS Gothic"/>
                <a:ea typeface="MS Gothic"/>
                <a:cs typeface="MS Gothic"/>
              </a:rPr>
              <a:t># 0.2秒ごとに測る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368"/>
            <a:ext cx="1069340" cy="228600"/>
          </a:xfrm>
          <a:prstGeom prst="roundRect">
            <a:avLst/>
          </a:prstGeom>
          <a:noFill/>
          <a:ln w="2540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5680" y="2195068"/>
            <a:ext cx="1247140" cy="228600"/>
          </a:xfrm>
          <a:prstGeom prst="roundRect">
            <a:avLst/>
          </a:prstGeom>
          <a:noFill/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5680" y="2626868"/>
            <a:ext cx="535940" cy="228600"/>
          </a:xfrm>
          <a:prstGeom prst="roundRect">
            <a:avLst/>
          </a:prstGeom>
          <a:noFill/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超音波センサーコードの読み解き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第6部 超音波センサー  |  47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7579"/>
                <a:gridCol w="6286835"/>
              </a:tblGrid>
              <a:tr h="64008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コード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意味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Trig を 10μs だけ 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「音を出して!」の合図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C62828"/>
                          </a:solidFill>
                          <a:latin typeface="MS Gothic"/>
                          <a:ea typeface="MS Gothic"/>
                          <a:cs typeface="MS Gothic"/>
                        </a:rPr>
                        <a:t>time_pulse_us(echo, 1, 30000)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Echo が HIGH の時間を μs で測る。30ms 以上はあきらめる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C62828"/>
                          </a:solidFill>
                          <a:latin typeface="MS Gothic"/>
                          <a:ea typeface="MS Gothic"/>
                          <a:cs typeface="MS Gothic"/>
                        </a:rPr>
                        <a:t>if t &lt; 0: return 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測れなかったときは「値なし」を返す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C62828"/>
                          </a:solidFill>
                          <a:latin typeface="MS Gothic"/>
                          <a:ea typeface="MS Gothic"/>
                          <a:cs typeface="MS Gothic"/>
                        </a:rPr>
                        <a:t>return t / 58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時間 → 距離(cm)の計算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846320"/>
            <a:ext cx="11094415" cy="731520"/>
          </a:xfrm>
          <a:prstGeom prst="roundRect">
            <a:avLst/>
          </a:prstGeom>
          <a:solidFill>
            <a:srgbClr val="FFF4E0"/>
          </a:solidFill>
          <a:ln w="19050">
            <a:solidFill>
              <a:srgbClr val="D9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⚠ 測定範囲は約 </a:t>
            </a:r>
            <a:r>
              <a:rPr sz="22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2〜400cm</a:t>
            </a:r>
            <a:r>
              <a:rPr sz="2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。近すぎる・斜めの面・やわらかい物は苦手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今日のまとめ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第7部 まとめ  |  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377440" cy="914400"/>
          </a:xfrm>
          <a:prstGeom prst="roundRect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制御構造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417320"/>
            <a:ext cx="844265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順次・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while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if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</a:t>
            </a:r>
            <a:r>
              <a:rPr sz="2400" b="0">
                <a:solidFill>
                  <a:srgbClr val="C62828"/>
                </a:solidFill>
                <a:latin typeface="MS Gothic"/>
                <a:ea typeface="MS Gothic"/>
                <a:cs typeface="MS Gothic"/>
              </a:rPr>
              <a:t>for</a:t>
            </a: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・関数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2377440" cy="914400"/>
          </a:xfrm>
          <a:prstGeom prst="roundRect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電気の基本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606040"/>
            <a:ext cx="844265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LED には電流制限抵抗(220Ω程度)/プルアップ・プルダウン/分圧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2377440" cy="914400"/>
          </a:xfrm>
          <a:prstGeom prst="roundRect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センサー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794760"/>
            <a:ext cx="844265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人感(赤外線)/超音波(音速 × 時間 ÷ 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2377440" cy="914400"/>
          </a:xfrm>
          <a:prstGeom prst="roundRect">
            <a:avLst/>
          </a:prstGeom>
          <a:solidFill>
            <a:srgbClr val="1F6FB2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ボタン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983480"/>
            <a:ext cx="844265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ポーリングと割り込み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チャレンジ課題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9441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"/>
                <a:ea typeface="Meiryo"/>
                <a:cs typeface="Meiryo"/>
              </a:rPr>
              <a:t>第7部 まとめ  |  49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08760"/>
            <a:ext cx="914400" cy="914400"/>
          </a:xfrm>
          <a:prstGeom prst="ellipse">
            <a:avLst/>
          </a:prstGeom>
          <a:solidFill>
            <a:srgbClr val="D96C00"/>
          </a:solidFill>
          <a:ln w="19050">
            <a:solidFill>
              <a:srgbClr val="D9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508760"/>
            <a:ext cx="990569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超音波で </a:t>
            </a:r>
            <a:r>
              <a:rPr sz="26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10cm 以内</a:t>
            </a:r>
            <a:r>
              <a:rPr sz="26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に近づいたら信号機を </a:t>
            </a:r>
            <a:r>
              <a:rPr sz="26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赤</a:t>
            </a:r>
            <a:r>
              <a:rPr sz="26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にする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880360"/>
            <a:ext cx="914400" cy="914400"/>
          </a:xfrm>
          <a:prstGeom prst="ellipse">
            <a:avLst/>
          </a:prstGeom>
          <a:solidFill>
            <a:srgbClr val="D96C00"/>
          </a:solidFill>
          <a:ln w="19050">
            <a:solidFill>
              <a:srgbClr val="D9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880360"/>
            <a:ext cx="990569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人感センサーが反応したら </a:t>
            </a:r>
            <a:r>
              <a:rPr sz="26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黄を点滅</a:t>
            </a:r>
            <a:r>
              <a:rPr sz="26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 させる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251960"/>
            <a:ext cx="914400" cy="914400"/>
          </a:xfrm>
          <a:prstGeom prst="ellipse">
            <a:avLst/>
          </a:prstGeom>
          <a:solidFill>
            <a:srgbClr val="D96C00"/>
          </a:solidFill>
          <a:ln w="19050">
            <a:solidFill>
              <a:srgbClr val="D9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251960"/>
            <a:ext cx="990569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ボタンを押したら超音波で距離を測り、</a:t>
            </a:r>
            <a:r>
              <a:rPr sz="2600" b="1">
                <a:solidFill>
                  <a:srgbClr val="1F6FB2"/>
                </a:solidFill>
                <a:latin typeface="Meiryo"/>
                <a:ea typeface="Meiryo"/>
                <a:cs typeface="Meiryo"/>
              </a:rPr>
              <a:t>距離に応じて信号の色を変える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